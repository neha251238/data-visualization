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9" r:id="rId3"/>
    <p:sldId id="257" r:id="rId4"/>
    <p:sldId id="262" r:id="rId5"/>
    <p:sldId id="260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320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71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13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7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66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95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08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11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45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5125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354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6507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899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228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29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22BED-DB55-45E2-BC95-10351984ADC1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5E683BF-B631-4070-9236-DD8C7EA193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6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04A7-874E-69FD-BE46-BF1977DB6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565" y="280556"/>
            <a:ext cx="10320048" cy="1126283"/>
          </a:xfrm>
        </p:spPr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       ARKA JAIN UNISERSITY</a:t>
            </a:r>
            <a:endParaRPr lang="en-IN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A7339-7C3F-AA2E-8B73-A1E4234B8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7628" y="4256206"/>
            <a:ext cx="9706985" cy="741822"/>
          </a:xfrm>
        </p:spPr>
        <p:txBody>
          <a:bodyPr>
            <a:normAutofit/>
          </a:bodyPr>
          <a:lstStyle/>
          <a:p>
            <a:r>
              <a:rPr lang="en-IN" sz="3600" u="sng" dirty="0">
                <a:latin typeface="Amasis MT Pro Black" panose="02040A04050005020304" pitchFamily="18" charset="0"/>
              </a:rPr>
              <a:t>Medical Insurance Analysis Dashboard</a:t>
            </a:r>
            <a:endParaRPr lang="en-IN" sz="3600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055CA-D06F-8854-2B32-95BD6BC67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88" y="1579417"/>
            <a:ext cx="2409825" cy="2409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CE96A3-4A43-EA90-5FB9-56ADEC230B57}"/>
              </a:ext>
            </a:extLst>
          </p:cNvPr>
          <p:cNvSpPr txBox="1"/>
          <p:nvPr/>
        </p:nvSpPr>
        <p:spPr>
          <a:xfrm>
            <a:off x="7450282" y="5351318"/>
            <a:ext cx="43330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BY-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NEHA KUMARI</a:t>
            </a:r>
          </a:p>
          <a:p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ENROLLMENT NUMBER-AJU/251238</a:t>
            </a:r>
          </a:p>
          <a:p>
            <a:endParaRPr lang="en-US" sz="2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00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DC87-05B9-C5EA-6C2E-BE03F5882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2572"/>
          </a:xfrm>
        </p:spPr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             INDRODUCTION</a:t>
            </a:r>
            <a:endParaRPr lang="en-IN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0C21-60F3-8402-497D-B2D599AD0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entury Gothic (Body)"/>
              </a:rPr>
              <a:t>Medical insurance or Health insurance is a financial tool that provides financial coverage for medical expenses. A health insurance policy is a contract between the insurance company and an individual. The individual pays a premium to the insurer and the insurer offers financial protection against healthcare expenses to the individual in return.</a:t>
            </a:r>
            <a:endParaRPr lang="en-IN" sz="2800" dirty="0"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7484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F2EE-BA64-5653-0F89-9B93319E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masis MT Pro Black" panose="02040A04050005020304" pitchFamily="18" charset="0"/>
              </a:rPr>
              <a:t>     Key 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78E54-B6C6-77FA-74F8-8DEE36EEA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Average insurance cost</a:t>
            </a:r>
          </a:p>
          <a:p>
            <a:r>
              <a:rPr lang="en-US" sz="2800" dirty="0"/>
              <a:t>Average BMI</a:t>
            </a:r>
          </a:p>
          <a:p>
            <a:r>
              <a:rPr lang="en-US" sz="2800" dirty="0"/>
              <a:t>Total children covered</a:t>
            </a:r>
          </a:p>
          <a:p>
            <a:r>
              <a:rPr lang="en-US" sz="2800" dirty="0"/>
              <a:t>Smoker percentage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4942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16D6-310F-10E6-18B1-E37B1EDD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masis MT Pro Black" panose="02040A04050005020304" pitchFamily="18" charset="0"/>
              </a:rPr>
              <a:t>       Dashboard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187DF3-A51F-A7B4-6C59-A52766756139}"/>
              </a:ext>
            </a:extLst>
          </p:cNvPr>
          <p:cNvSpPr txBox="1"/>
          <p:nvPr/>
        </p:nvSpPr>
        <p:spPr>
          <a:xfrm>
            <a:off x="1205345" y="1905000"/>
            <a:ext cx="33666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Visual 1</a:t>
            </a:r>
            <a:r>
              <a:rPr lang="en-US" sz="2000" dirty="0"/>
              <a:t>: Insurance cost by age             </a:t>
            </a:r>
          </a:p>
          <a:p>
            <a:r>
              <a:rPr lang="en-US" sz="2000" b="1" dirty="0"/>
              <a:t>Type</a:t>
            </a:r>
            <a:r>
              <a:rPr lang="en-US" sz="2000" dirty="0"/>
              <a:t> : Line chart</a:t>
            </a:r>
          </a:p>
          <a:p>
            <a:r>
              <a:rPr lang="en-US" sz="2000" b="1" dirty="0"/>
              <a:t>Axis</a:t>
            </a:r>
            <a:r>
              <a:rPr lang="en-US" sz="2000" dirty="0"/>
              <a:t>: Age</a:t>
            </a:r>
          </a:p>
          <a:p>
            <a:r>
              <a:rPr lang="en-US" sz="2000" b="1" dirty="0"/>
              <a:t>Values</a:t>
            </a:r>
            <a:r>
              <a:rPr lang="en-US" sz="2000" dirty="0"/>
              <a:t>: Average Insurance cost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Visual 2</a:t>
            </a:r>
            <a:r>
              <a:rPr lang="en-US" sz="2000" dirty="0"/>
              <a:t>: BMI vs Insurance cost</a:t>
            </a:r>
          </a:p>
          <a:p>
            <a:r>
              <a:rPr lang="en-US" sz="2000" b="1" dirty="0"/>
              <a:t>Type</a:t>
            </a:r>
            <a:r>
              <a:rPr lang="en-US" sz="2000" dirty="0"/>
              <a:t> : Scatter chart</a:t>
            </a:r>
          </a:p>
          <a:p>
            <a:r>
              <a:rPr lang="en-US" sz="2000" b="1" dirty="0"/>
              <a:t>X -Axis</a:t>
            </a:r>
            <a:r>
              <a:rPr lang="en-US" sz="2000" dirty="0"/>
              <a:t>: BMI</a:t>
            </a:r>
          </a:p>
          <a:p>
            <a:r>
              <a:rPr lang="en-US" sz="2000" b="1" dirty="0"/>
              <a:t>Y- Axis</a:t>
            </a:r>
            <a:r>
              <a:rPr lang="en-US" sz="2000" dirty="0"/>
              <a:t>: Insurance cost</a:t>
            </a:r>
          </a:p>
          <a:p>
            <a:r>
              <a:rPr lang="en-US" sz="2000" b="1" dirty="0"/>
              <a:t>Legend</a:t>
            </a:r>
            <a:r>
              <a:rPr lang="en-US" sz="2000" dirty="0"/>
              <a:t>: Sex</a:t>
            </a:r>
          </a:p>
          <a:p>
            <a:r>
              <a:rPr lang="en-US" sz="2000" b="1" dirty="0"/>
              <a:t>Size</a:t>
            </a:r>
            <a:r>
              <a:rPr lang="en-US" sz="2000" dirty="0"/>
              <a:t>: 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64EDE-92A7-7AF9-A2FB-2020AB0F0104}"/>
              </a:ext>
            </a:extLst>
          </p:cNvPr>
          <p:cNvSpPr txBox="1"/>
          <p:nvPr/>
        </p:nvSpPr>
        <p:spPr>
          <a:xfrm>
            <a:off x="4696691" y="2015836"/>
            <a:ext cx="29233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Visual 3</a:t>
            </a:r>
            <a:r>
              <a:rPr lang="en-US" dirty="0"/>
              <a:t>: Insurance cost by smoker type            </a:t>
            </a:r>
          </a:p>
          <a:p>
            <a:r>
              <a:rPr lang="en-US" b="1" dirty="0"/>
              <a:t>Type</a:t>
            </a:r>
            <a:r>
              <a:rPr lang="en-US" dirty="0"/>
              <a:t> : Clustered column chart</a:t>
            </a:r>
          </a:p>
          <a:p>
            <a:r>
              <a:rPr lang="en-US" b="1" dirty="0"/>
              <a:t>Axis</a:t>
            </a:r>
            <a:r>
              <a:rPr lang="en-US" dirty="0"/>
              <a:t>: Smoker status</a:t>
            </a:r>
          </a:p>
          <a:p>
            <a:r>
              <a:rPr lang="en-US" b="1" dirty="0"/>
              <a:t>Values</a:t>
            </a:r>
            <a:r>
              <a:rPr lang="en-US" dirty="0"/>
              <a:t>: Average Insurance cost</a:t>
            </a:r>
          </a:p>
          <a:p>
            <a:endParaRPr lang="en-US" dirty="0"/>
          </a:p>
          <a:p>
            <a:r>
              <a:rPr lang="en-US" b="1" dirty="0"/>
              <a:t>Visual 4</a:t>
            </a:r>
            <a:r>
              <a:rPr lang="en-US" dirty="0"/>
              <a:t>:  Medical History distribution  </a:t>
            </a:r>
          </a:p>
          <a:p>
            <a:r>
              <a:rPr lang="en-US" b="1" dirty="0"/>
              <a:t>Type</a:t>
            </a:r>
            <a:r>
              <a:rPr lang="en-US" dirty="0"/>
              <a:t> : Donut chart</a:t>
            </a:r>
          </a:p>
          <a:p>
            <a:r>
              <a:rPr lang="en-US" b="1" dirty="0"/>
              <a:t>Legend:  </a:t>
            </a:r>
            <a:r>
              <a:rPr lang="en-US" dirty="0"/>
              <a:t>Medical History</a:t>
            </a:r>
            <a:r>
              <a:rPr lang="en-US" b="1" dirty="0"/>
              <a:t> </a:t>
            </a:r>
            <a:endParaRPr lang="en-US" dirty="0"/>
          </a:p>
          <a:p>
            <a:r>
              <a:rPr lang="en-US" b="1" dirty="0"/>
              <a:t>Value:  </a:t>
            </a:r>
            <a:r>
              <a:rPr lang="en-US" dirty="0"/>
              <a:t> Cost of Medical history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406A9-DC7E-BE9F-A92E-758283BE0EFB}"/>
              </a:ext>
            </a:extLst>
          </p:cNvPr>
          <p:cNvSpPr txBox="1"/>
          <p:nvPr/>
        </p:nvSpPr>
        <p:spPr>
          <a:xfrm>
            <a:off x="8811491" y="2015836"/>
            <a:ext cx="26931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Visual 5</a:t>
            </a:r>
            <a:r>
              <a:rPr lang="en-US" dirty="0"/>
              <a:t>: Regional cost comparison           </a:t>
            </a:r>
          </a:p>
          <a:p>
            <a:r>
              <a:rPr lang="en-US" b="1" dirty="0"/>
              <a:t>Type</a:t>
            </a:r>
            <a:r>
              <a:rPr lang="en-US" dirty="0"/>
              <a:t> : Bar graph</a:t>
            </a:r>
          </a:p>
          <a:p>
            <a:r>
              <a:rPr lang="en-US" b="1" dirty="0"/>
              <a:t>Axis</a:t>
            </a:r>
            <a:r>
              <a:rPr lang="en-US" dirty="0"/>
              <a:t>: Region</a:t>
            </a:r>
          </a:p>
          <a:p>
            <a:r>
              <a:rPr lang="en-US" b="1" dirty="0"/>
              <a:t>Values</a:t>
            </a:r>
            <a:r>
              <a:rPr lang="en-US" dirty="0"/>
              <a:t>: Average Insurance cost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Slicer filters(Right sidebar</a:t>
            </a:r>
            <a:r>
              <a:rPr lang="en-US" dirty="0"/>
              <a:t>)          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Sex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Smoker status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Region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Medical history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15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B4BD-5C6B-7553-79DE-51B694D2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Benefits of a Medical Insurance Dashboard</a:t>
            </a:r>
            <a:endParaRPr lang="en-IN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91401-D119-0325-6F0D-89F89FA5C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j-lt"/>
              </a:rPr>
              <a:t>• Faster decision-making</a:t>
            </a:r>
          </a:p>
          <a:p>
            <a:r>
              <a:rPr lang="en-US" sz="3200" dirty="0">
                <a:latin typeface="+mj-lt"/>
              </a:rPr>
              <a:t>• Improved customer service</a:t>
            </a:r>
          </a:p>
          <a:p>
            <a:r>
              <a:rPr lang="en-US" sz="3200" dirty="0">
                <a:latin typeface="+mj-lt"/>
              </a:rPr>
              <a:t>• Better fraud detection</a:t>
            </a:r>
          </a:p>
          <a:p>
            <a:r>
              <a:rPr lang="en-US" sz="3200" dirty="0">
                <a:latin typeface="+mj-lt"/>
              </a:rPr>
              <a:t>• Accurate forecasting &amp; budgeting</a:t>
            </a:r>
          </a:p>
          <a:p>
            <a:r>
              <a:rPr lang="en-US" sz="3200" dirty="0">
                <a:latin typeface="+mj-lt"/>
              </a:rPr>
              <a:t>• Real‑time monitoring of performance</a:t>
            </a:r>
          </a:p>
          <a:p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980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F451-E68F-D51D-6822-4A4AFB2A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009" y="862444"/>
            <a:ext cx="8284365" cy="1042555"/>
          </a:xfrm>
        </p:spPr>
        <p:txBody>
          <a:bodyPr>
            <a:norm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                Dashboard</a:t>
            </a:r>
            <a:endParaRPr lang="en-IN" dirty="0">
              <a:latin typeface="Amasis MT Pro Black" panose="02040A04050005020304" pitchFamily="18" charset="0"/>
            </a:endParaRPr>
          </a:p>
        </p:txBody>
      </p:sp>
      <p:pic>
        <p:nvPicPr>
          <p:cNvPr id="9" name="Content Placeholder 8" descr="A screenshot of a medical insurance dashboard&#10;&#10;AI-generated content may be incorrect.">
            <a:extLst>
              <a:ext uri="{FF2B5EF4-FFF2-40B4-BE49-F238E27FC236}">
                <a16:creationId xmlns:a16="http://schemas.microsoft.com/office/drawing/2014/main" id="{6B172BE0-E520-A9B7-FC20-EEA442EB3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09" y="2039254"/>
            <a:ext cx="8284365" cy="4734963"/>
          </a:xfrm>
        </p:spPr>
      </p:pic>
    </p:spTree>
    <p:extLst>
      <p:ext uri="{BB962C8B-B14F-4D97-AF65-F5344CB8AC3E}">
        <p14:creationId xmlns:p14="http://schemas.microsoft.com/office/powerpoint/2010/main" val="144674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6219-0CEA-93A6-DAF9-E40EE045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Amasis MT Pro Black" panose="02040A04050005020304" pitchFamily="18" charset="0"/>
              </a:rPr>
              <a:t>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0F390-7CC9-392C-F2EA-4351B6F1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Medical Insurance Dashboard provides a clear and data‑driven overview of insurance operations, helping organizations improve efficiency, transparency, and customer satisfaction.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5502497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165</TotalTime>
  <Words>270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ADLaM Display</vt:lpstr>
      <vt:lpstr>Amasis MT Pro Black</vt:lpstr>
      <vt:lpstr>Arial</vt:lpstr>
      <vt:lpstr>Century Gothic</vt:lpstr>
      <vt:lpstr>Century Gothic (Body)</vt:lpstr>
      <vt:lpstr>Wingdings</vt:lpstr>
      <vt:lpstr>Wingdings 3</vt:lpstr>
      <vt:lpstr>Wisp</vt:lpstr>
      <vt:lpstr>       ARKA JAIN UNISERSITY</vt:lpstr>
      <vt:lpstr>             INDRODUCTION</vt:lpstr>
      <vt:lpstr>     Key Dashboard Components</vt:lpstr>
      <vt:lpstr>       Dashboard Visualization</vt:lpstr>
      <vt:lpstr>Benefits of a Medical Insurance Dashboard</vt:lpstr>
      <vt:lpstr>                Dashboard</vt:lpstr>
      <vt:lpstr>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kumari</dc:creator>
  <cp:lastModifiedBy>neha kumari</cp:lastModifiedBy>
  <cp:revision>1</cp:revision>
  <dcterms:created xsi:type="dcterms:W3CDTF">2025-12-02T12:38:51Z</dcterms:created>
  <dcterms:modified xsi:type="dcterms:W3CDTF">2025-12-02T15:23:55Z</dcterms:modified>
</cp:coreProperties>
</file>